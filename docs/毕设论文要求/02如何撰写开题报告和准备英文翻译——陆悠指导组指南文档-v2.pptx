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559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8352B4-0AEB-4E39-A42B-59416DA076A3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282CA7-4A3A-4DFB-94C6-4E3F9EB1CA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380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282CA7-4A3A-4DFB-94C6-4E3F9EB1CA0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60968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282CA7-4A3A-4DFB-94C6-4E3F9EB1CA0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967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EEE8F8-8082-1036-B89A-BF0E68A25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8B2543-BCDF-E653-EC2F-D77957EC1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0D5C42-C7D4-BCFB-D477-D2139CC64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E08AF-489E-435B-8EEC-92B9715E4553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5129BC-2858-6DA0-BC7C-E16442E9D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F8BB56-1A54-E772-A4B2-39BAA6C4A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82DD9-5DD4-4B84-8D14-4073B8B23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9140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724C50-8381-9626-0246-E992F1310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A2C0FB-F2E3-8C3C-CC3E-D0AD60F6B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515E74-A226-6101-8591-4CF7A0C84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E08AF-489E-435B-8EEC-92B9715E4553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F9E71B-5E38-2FBF-E2D6-68A09356F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69E978-F95E-8EF2-D0BE-10F1C4017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82DD9-5DD4-4B84-8D14-4073B8B23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176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F48E5D-B85F-FF31-0CD4-5B489B790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531E12-827A-3D7E-FF0C-0C273521F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C7838C-6B50-D08F-6F81-8CF843422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E08AF-489E-435B-8EEC-92B9715E4553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03D612-DE60-6694-C09C-FC4A9A679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11983A-7EE8-E140-C033-62A76F61D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82DD9-5DD4-4B84-8D14-4073B8B23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2715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8BDBDB-5CC9-566C-7B38-F8EF41E89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2BACB9-34A6-759C-839A-2AD18380FD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9ACB0F-24C0-76C5-876E-CC16F4B0C6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C62E30-EB2B-016C-2027-A1DFB30BD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E08AF-489E-435B-8EEC-92B9715E4553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695665-4C82-86EA-5F7E-62D3D01F5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2AECDC-DCFB-8962-4523-73215A1BD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82DD9-5DD4-4B84-8D14-4073B8B23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1079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9CFBCC-3B9A-A42A-5B41-CB399A7B0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211DDE-0EC3-6524-CB1B-F6E260630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7359FA-5425-6B1E-9EED-4E4C8330CB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1425EA5-4572-4CAB-788F-0ECF0BC9EC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CE3DDD7-575F-63CB-B553-F18428C7F3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FC01E64-5EE3-04FE-7E8F-5300BE48F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E08AF-489E-435B-8EEC-92B9715E4553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B724BF4-4C5F-42AC-2774-7A26ED877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F0578C0-4C0D-F08C-A3F1-9950EBF4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82DD9-5DD4-4B84-8D14-4073B8B23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185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6327FC-5514-CC3E-EA3D-EC0AD631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9798421-E3D2-E8E0-3CBE-F7162F6A8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E08AF-489E-435B-8EEC-92B9715E4553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2DF4E91-2CB3-98D0-27AE-1B6B87B7C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2C35133-7438-30DA-57B3-907933D22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82DD9-5DD4-4B84-8D14-4073B8B23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29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AA1C16-1AD7-B046-2EE8-666B5FDB3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E08AF-489E-435B-8EEC-92B9715E4553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F6DAC02-9C54-C28F-487D-D85067613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ADA56B-0898-D7A6-9628-CC5B093C2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82DD9-5DD4-4B84-8D14-4073B8B23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6398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43E6A8-413A-2339-26D4-0ADF87793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3AC600-7669-F704-AE87-E7E7F8054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C7326A6-F666-94B1-C5F4-C04224B3ED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4CDA44-D4CB-A836-8297-C954FF136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E08AF-489E-435B-8EEC-92B9715E4553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13F059-82D6-3853-33C7-9701B79C2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06E9C17-A19C-C06E-E8C0-996F27546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82DD9-5DD4-4B84-8D14-4073B8B23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651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C2916B-63BD-798E-A171-B4265D291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34CC62F-FC44-F323-9026-E29F2BC6B9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2C098F-F7E0-65B2-A37D-50A85F956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D09CEF-4179-F03C-9252-D43D17BE9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E08AF-489E-435B-8EEC-92B9715E4553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C008DC-C409-869C-38BC-D75B3B173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2CF30C-FF9C-55C9-56DA-7BCFCDF8B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82DD9-5DD4-4B84-8D14-4073B8B23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3039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22CA1B-E913-75B3-5D26-981FDEDE2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1D9985A-A610-72BF-0F87-AB1854CFD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6CF327-DF8D-111A-45E4-640DEB6BB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E08AF-489E-435B-8EEC-92B9715E4553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152E60-AA78-7E4B-510B-598D41398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E6C61B-80C8-F503-3395-814625174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82DD9-5DD4-4B84-8D14-4073B8B23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460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37FFF38-499E-C3B1-216C-1B75C0828F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4BDC67-8A50-5D3A-4D4E-32910CE6C9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284017-469A-F560-25E7-BF2421800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E08AF-489E-435B-8EEC-92B9715E4553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62CCEE-0C2D-0CBF-81EA-B88EE2DF0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EFF12F-FA30-6E7D-1B40-51EDCB8F1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82DD9-5DD4-4B84-8D14-4073B8B23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0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5CD22C6-5501-5F27-1EF0-48B383EC5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BDFFFC-9DD8-FD19-9997-34C7F5754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686DFC-3530-4EAD-BC9D-E93992874E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E08AF-489E-435B-8EEC-92B9715E4553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E4E122-B0A6-F7BC-57DF-CDEF8FA5A5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AE7344-B162-ADEE-AB3A-E334D0F36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582DD9-5DD4-4B84-8D14-4073B8B23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380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6ABB86-EC6F-9955-F8C3-0DB4196D2F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zh-CN" sz="44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如何完成一份合格的</a:t>
            </a:r>
            <a:r>
              <a:rPr lang="zh-CN" altLang="en-US" sz="44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开题报告</a:t>
            </a:r>
            <a:br>
              <a:rPr lang="en-US" altLang="zh-CN" sz="44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4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以及英文翻译</a:t>
            </a:r>
            <a:endParaRPr lang="zh-CN" altLang="en-US" sz="4400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C072CC6-EC3D-9241-0EEC-EEFE724E94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陆悠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v1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版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by 2024-12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 v2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版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by 2025-1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3712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155B7F-368C-B041-4F93-1EE812136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一、开题报告的主要内容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59454D-2352-FB2B-AE12-294FF3C82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zh-CN" altLang="en-US" b="1" dirty="0">
                <a:solidFill>
                  <a:srgbClr val="FF0000"/>
                </a:solidFill>
              </a:rPr>
              <a:t>本课题研究的背景、目的及意义（重点）</a:t>
            </a:r>
            <a:endParaRPr lang="en-US" altLang="zh-CN" b="1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dirty="0"/>
              <a:t>2</a:t>
            </a:r>
            <a:r>
              <a:rPr lang="zh-CN" altLang="en-US" dirty="0"/>
              <a:t>、本课题主要</a:t>
            </a:r>
            <a:r>
              <a:rPr lang="zh-CN" altLang="en-US" b="1" dirty="0">
                <a:solidFill>
                  <a:srgbClr val="FF0000"/>
                </a:solidFill>
              </a:rPr>
              <a:t>研究内容和预期目标</a:t>
            </a:r>
            <a:r>
              <a:rPr lang="zh-CN" altLang="en-US" dirty="0"/>
              <a:t>（完成毕设的工作过程）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en-US" altLang="zh-CN" dirty="0"/>
              <a:t>3</a:t>
            </a:r>
            <a:r>
              <a:rPr lang="zh-CN" altLang="en-US" dirty="0"/>
              <a:t>、本课题拟采用的研究方法、步骤 （如何实施工作的预计方法）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en-US" altLang="zh-CN" dirty="0"/>
              <a:t>4</a:t>
            </a:r>
            <a:r>
              <a:rPr lang="zh-CN" altLang="en-US" dirty="0"/>
              <a:t>、本课题主要参考文献（比任务书数量增加</a:t>
            </a:r>
            <a:r>
              <a:rPr lang="en-US" altLang="zh-CN" dirty="0"/>
              <a:t>2</a:t>
            </a:r>
            <a:r>
              <a:rPr lang="zh-CN" altLang="en-US" dirty="0"/>
              <a:t>篇）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en-US" altLang="zh-CN" dirty="0"/>
              <a:t>5</a:t>
            </a:r>
            <a:r>
              <a:rPr lang="zh-CN" altLang="en-US" dirty="0"/>
              <a:t>、本课题的具体进度安排（与任务书一致）</a:t>
            </a:r>
          </a:p>
          <a:p>
            <a:endParaRPr lang="en-US" altLang="zh-CN" dirty="0"/>
          </a:p>
          <a:p>
            <a:r>
              <a:rPr lang="zh-CN" altLang="en-US" dirty="0"/>
              <a:t>标红字的是重点内容</a:t>
            </a:r>
          </a:p>
        </p:txBody>
      </p:sp>
    </p:spTree>
    <p:extLst>
      <p:ext uri="{BB962C8B-B14F-4D97-AF65-F5344CB8AC3E}">
        <p14:creationId xmlns:p14="http://schemas.microsoft.com/office/powerpoint/2010/main" val="3039383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D2AA8D-568A-E436-F88C-C66823F0C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二、撰写开题报告之前的准备工作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99E4BF-1ED0-21F8-7CAE-1C0F07C0D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96833" cy="4351338"/>
          </a:xfrm>
        </p:spPr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、教师提供的任务书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779FC31-96F7-26A7-BD93-BF6706D37B02}"/>
              </a:ext>
            </a:extLst>
          </p:cNvPr>
          <p:cNvSpPr txBox="1">
            <a:spLocks/>
          </p:cNvSpPr>
          <p:nvPr/>
        </p:nvSpPr>
        <p:spPr>
          <a:xfrm>
            <a:off x="6413500" y="1749425"/>
            <a:ext cx="552873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2</a:t>
            </a:r>
            <a:r>
              <a:rPr lang="zh-CN" altLang="en-US" dirty="0"/>
              <a:t>、初步规划好的系统框架设计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37F41BD-CCF6-40FE-B8E3-1483C05D3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389" y="2315632"/>
            <a:ext cx="3083317" cy="438996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5537F19-7E25-D75E-272C-ED66ABC72499}"/>
              </a:ext>
            </a:extLst>
          </p:cNvPr>
          <p:cNvSpPr/>
          <p:nvPr/>
        </p:nvSpPr>
        <p:spPr>
          <a:xfrm>
            <a:off x="1265766" y="2671234"/>
            <a:ext cx="3293533" cy="17060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DA732FA0-6CEB-FCD6-224F-316038FF0D6E}"/>
              </a:ext>
            </a:extLst>
          </p:cNvPr>
          <p:cNvSpPr/>
          <p:nvPr/>
        </p:nvSpPr>
        <p:spPr>
          <a:xfrm rot="19779098">
            <a:off x="753533" y="3881967"/>
            <a:ext cx="402167" cy="139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E5017FA-B995-6518-4A55-1201ABBE6D17}"/>
              </a:ext>
            </a:extLst>
          </p:cNvPr>
          <p:cNvSpPr txBox="1"/>
          <p:nvPr/>
        </p:nvSpPr>
        <p:spPr>
          <a:xfrm>
            <a:off x="118922" y="4148667"/>
            <a:ext cx="11045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研究背景和意义是这里的内容扩展与延伸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FB20BF-8C99-CE4D-D771-CD105807C2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513754"/>
            <a:ext cx="5547360" cy="2194560"/>
          </a:xfrm>
          <a:prstGeom prst="rect">
            <a:avLst/>
          </a:prstGeom>
        </p:spPr>
      </p:pic>
      <p:sp>
        <p:nvSpPr>
          <p:cNvPr id="10" name="箭头: 右 9">
            <a:extLst>
              <a:ext uri="{FF2B5EF4-FFF2-40B4-BE49-F238E27FC236}">
                <a16:creationId xmlns:a16="http://schemas.microsoft.com/office/drawing/2014/main" id="{A5600DA3-EEF9-DCAC-107A-706A3BDE84D1}"/>
              </a:ext>
            </a:extLst>
          </p:cNvPr>
          <p:cNvSpPr/>
          <p:nvPr/>
        </p:nvSpPr>
        <p:spPr>
          <a:xfrm rot="16200000">
            <a:off x="8906933" y="5002146"/>
            <a:ext cx="402167" cy="139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A04E3B7-EC76-BD4A-C8A6-53FD7B7AC23C}"/>
              </a:ext>
            </a:extLst>
          </p:cNvPr>
          <p:cNvSpPr txBox="1"/>
          <p:nvPr/>
        </p:nvSpPr>
        <p:spPr>
          <a:xfrm>
            <a:off x="8115300" y="5430724"/>
            <a:ext cx="1888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研究目的与这里的设计一一对应</a:t>
            </a:r>
          </a:p>
        </p:txBody>
      </p:sp>
    </p:spTree>
    <p:extLst>
      <p:ext uri="{BB962C8B-B14F-4D97-AF65-F5344CB8AC3E}">
        <p14:creationId xmlns:p14="http://schemas.microsoft.com/office/powerpoint/2010/main" val="3138103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029450-5E60-2647-22EC-FB9DA028B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三、课题研究背景、目的及意义的撰写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26743F-AABE-A075-2466-AFD3617AA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33800" cy="4351338"/>
          </a:xfrm>
        </p:spPr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、研究背景怎么写</a:t>
            </a:r>
            <a:endParaRPr lang="en-US" altLang="zh-CN" dirty="0"/>
          </a:p>
          <a:p>
            <a:pPr marL="0" indent="0" algn="ctr"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任务书的内容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8F008B6-7E29-EA64-9028-A58CE91BE0C1}"/>
              </a:ext>
            </a:extLst>
          </p:cNvPr>
          <p:cNvSpPr txBox="1">
            <a:spLocks/>
          </p:cNvSpPr>
          <p:nvPr/>
        </p:nvSpPr>
        <p:spPr>
          <a:xfrm>
            <a:off x="4813300" y="1825625"/>
            <a:ext cx="57954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你写的内容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B11A83-56D7-1DC5-4725-930F46659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47" y="2967287"/>
            <a:ext cx="3688560" cy="2066366"/>
          </a:xfrm>
          <a:prstGeom prst="rect">
            <a:avLst/>
          </a:prstGeom>
        </p:spPr>
      </p:pic>
      <p:sp>
        <p:nvSpPr>
          <p:cNvPr id="6" name="箭头: 右 5">
            <a:extLst>
              <a:ext uri="{FF2B5EF4-FFF2-40B4-BE49-F238E27FC236}">
                <a16:creationId xmlns:a16="http://schemas.microsoft.com/office/drawing/2014/main" id="{F7DB1AB4-664F-450A-7C4D-4D264E46CBB7}"/>
              </a:ext>
            </a:extLst>
          </p:cNvPr>
          <p:cNvSpPr/>
          <p:nvPr/>
        </p:nvSpPr>
        <p:spPr>
          <a:xfrm rot="16200000">
            <a:off x="1828800" y="5235343"/>
            <a:ext cx="402167" cy="139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E59D4C9-349B-0147-851E-9CBEE6CC0DA8}"/>
              </a:ext>
            </a:extLst>
          </p:cNvPr>
          <p:cNvSpPr txBox="1"/>
          <p:nvPr/>
        </p:nvSpPr>
        <p:spPr>
          <a:xfrm>
            <a:off x="617547" y="5663921"/>
            <a:ext cx="38147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任务书给出了一个基本背景，以及目前存在的大致问题，能取得的可能的成果，叙述较为宏观。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1448240-374A-60E5-E18D-C91503836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3300" y="2951002"/>
            <a:ext cx="5795433" cy="1971506"/>
          </a:xfrm>
          <a:prstGeom prst="rect">
            <a:avLst/>
          </a:prstGeom>
        </p:spPr>
      </p:pic>
      <p:sp>
        <p:nvSpPr>
          <p:cNvPr id="9" name="箭头: 右 8">
            <a:extLst>
              <a:ext uri="{FF2B5EF4-FFF2-40B4-BE49-F238E27FC236}">
                <a16:creationId xmlns:a16="http://schemas.microsoft.com/office/drawing/2014/main" id="{9BAA0022-8944-3CBE-DF4A-D0673BA69497}"/>
              </a:ext>
            </a:extLst>
          </p:cNvPr>
          <p:cNvSpPr/>
          <p:nvPr/>
        </p:nvSpPr>
        <p:spPr>
          <a:xfrm rot="16200000">
            <a:off x="6765387" y="5053741"/>
            <a:ext cx="402167" cy="139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82D8F61-EFBC-54A0-9EFA-C9DE88ECB82E}"/>
              </a:ext>
            </a:extLst>
          </p:cNvPr>
          <p:cNvSpPr txBox="1"/>
          <p:nvPr/>
        </p:nvSpPr>
        <p:spPr>
          <a:xfrm>
            <a:off x="4813821" y="5388860"/>
            <a:ext cx="57954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你需要直接写出毕设需要完成的具体系统所涉及的详细背景，对照任务书所描述的大致问题，细化现有工作存在的不足及可能的后果，针对这一问题，描述我们采用的技术方案的优势，以及能取得的好处，从而较为具体的论证课题的合理性。</a:t>
            </a:r>
          </a:p>
        </p:txBody>
      </p:sp>
    </p:spTree>
    <p:extLst>
      <p:ext uri="{BB962C8B-B14F-4D97-AF65-F5344CB8AC3E}">
        <p14:creationId xmlns:p14="http://schemas.microsoft.com/office/powerpoint/2010/main" val="3065135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EA4FF-0C9F-08CF-6A07-F48F1F4D8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8196C9-D71F-BF14-D49A-B82B030C7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三、课题研究背景、目的及意义的撰写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875B51-6C8C-5495-A4AC-53649936B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867" y="1825625"/>
            <a:ext cx="4030133" cy="4351338"/>
          </a:xfrm>
        </p:spPr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、目的与意义怎么写</a:t>
            </a:r>
            <a:endParaRPr lang="en-US" altLang="zh-CN" dirty="0"/>
          </a:p>
          <a:p>
            <a:pPr marL="0" indent="0" algn="ctr"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任务书的内容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2A45635-DC53-55F3-9564-5F4AC07D93CF}"/>
              </a:ext>
            </a:extLst>
          </p:cNvPr>
          <p:cNvSpPr txBox="1">
            <a:spLocks/>
          </p:cNvSpPr>
          <p:nvPr/>
        </p:nvSpPr>
        <p:spPr>
          <a:xfrm>
            <a:off x="4813300" y="1825625"/>
            <a:ext cx="57954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你写的内容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2335F0E-CC81-664A-CF64-01A7DFCF8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47" y="2967287"/>
            <a:ext cx="3688560" cy="2066366"/>
          </a:xfrm>
          <a:prstGeom prst="rect">
            <a:avLst/>
          </a:prstGeom>
        </p:spPr>
      </p:pic>
      <p:sp>
        <p:nvSpPr>
          <p:cNvPr id="6" name="箭头: 右 5">
            <a:extLst>
              <a:ext uri="{FF2B5EF4-FFF2-40B4-BE49-F238E27FC236}">
                <a16:creationId xmlns:a16="http://schemas.microsoft.com/office/drawing/2014/main" id="{46746A20-47AF-C337-36ED-4ACC1362E6FD}"/>
              </a:ext>
            </a:extLst>
          </p:cNvPr>
          <p:cNvSpPr/>
          <p:nvPr/>
        </p:nvSpPr>
        <p:spPr>
          <a:xfrm rot="16200000">
            <a:off x="1828800" y="5235343"/>
            <a:ext cx="402167" cy="139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F272B62-B304-E7BB-2DB7-5ECB1816D8B1}"/>
              </a:ext>
            </a:extLst>
          </p:cNvPr>
          <p:cNvSpPr txBox="1"/>
          <p:nvPr/>
        </p:nvSpPr>
        <p:spPr>
          <a:xfrm>
            <a:off x="617547" y="5663921"/>
            <a:ext cx="3814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任务书仅给出了一个基本目标，以及宏观的意义，叙述较为简单。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16414D03-D145-A6B5-E253-513A4C9BC0D7}"/>
              </a:ext>
            </a:extLst>
          </p:cNvPr>
          <p:cNvSpPr/>
          <p:nvPr/>
        </p:nvSpPr>
        <p:spPr>
          <a:xfrm rot="10800000">
            <a:off x="9404191" y="4000470"/>
            <a:ext cx="402167" cy="139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355BA9C-CE72-B2A3-E9F9-80267AE4C83F}"/>
              </a:ext>
            </a:extLst>
          </p:cNvPr>
          <p:cNvSpPr txBox="1"/>
          <p:nvPr/>
        </p:nvSpPr>
        <p:spPr>
          <a:xfrm>
            <a:off x="9806358" y="1614791"/>
            <a:ext cx="225864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</a:rPr>
              <a:t>    你需要根据初步设计的系统框架图，结合任务书，从系统提供什么功能来满足用户的什么需求的角度，较为具体的说明本次毕设系统的目的，注意：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r>
              <a:rPr lang="en-US" altLang="zh-CN" sz="1600" b="1" dirty="0">
                <a:solidFill>
                  <a:srgbClr val="FF0000"/>
                </a:solidFill>
              </a:rPr>
              <a:t>    1</a:t>
            </a:r>
            <a:r>
              <a:rPr lang="zh-CN" altLang="en-US" sz="1600" b="1" dirty="0">
                <a:solidFill>
                  <a:srgbClr val="FF0000"/>
                </a:solidFill>
              </a:rPr>
              <a:t>、不能写出</a:t>
            </a:r>
            <a:r>
              <a:rPr lang="en-US" altLang="zh-CN" sz="1600" b="1" dirty="0">
                <a:solidFill>
                  <a:srgbClr val="FF0000"/>
                </a:solidFill>
              </a:rPr>
              <a:t>XX</a:t>
            </a:r>
            <a:r>
              <a:rPr lang="zh-CN" altLang="en-US" sz="1600" b="1" dirty="0">
                <a:solidFill>
                  <a:srgbClr val="FF0000"/>
                </a:solidFill>
              </a:rPr>
              <a:t>模块、</a:t>
            </a:r>
            <a:r>
              <a:rPr lang="en-US" altLang="zh-CN" sz="1600" b="1" dirty="0">
                <a:solidFill>
                  <a:srgbClr val="FF0000"/>
                </a:solidFill>
              </a:rPr>
              <a:t>XX</a:t>
            </a:r>
            <a:r>
              <a:rPr lang="zh-CN" altLang="en-US" sz="1600" b="1" dirty="0">
                <a:solidFill>
                  <a:srgbClr val="FF0000"/>
                </a:solidFill>
              </a:rPr>
              <a:t>组件这种形式，开题时系统处于还没设计开发的状态，只能从满足用户什么需求角度写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r>
              <a:rPr lang="en-US" altLang="zh-CN" sz="1600" b="1" dirty="0">
                <a:solidFill>
                  <a:srgbClr val="FF0000"/>
                </a:solidFill>
              </a:rPr>
              <a:t>    2</a:t>
            </a:r>
            <a:r>
              <a:rPr lang="zh-CN" altLang="en-US" sz="1600" b="1" dirty="0">
                <a:solidFill>
                  <a:srgbClr val="FF0000"/>
                </a:solidFill>
              </a:rPr>
              <a:t>、本案例较为具体的描述了用户操作，也不妥，应该描述用户通过系统可实现什么目的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r>
              <a:rPr lang="en-US" altLang="zh-CN" sz="1600" b="1" dirty="0">
                <a:solidFill>
                  <a:srgbClr val="FF0000"/>
                </a:solidFill>
              </a:rPr>
              <a:t>    </a:t>
            </a:r>
            <a:r>
              <a:rPr lang="zh-CN" altLang="en-US" sz="1600" b="1" dirty="0">
                <a:solidFill>
                  <a:srgbClr val="FF0000"/>
                </a:solidFill>
              </a:rPr>
              <a:t>最后从系统功能角度具体说明应用这个系统，用户能够获得什么好处，从而论证毕设系统的意义。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675B0E3-BC8E-3940-A369-C594485DB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438" y="2865781"/>
            <a:ext cx="4590891" cy="383971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C395E34-F791-7311-6288-E04774F8D6AA}"/>
              </a:ext>
            </a:extLst>
          </p:cNvPr>
          <p:cNvSpPr txBox="1"/>
          <p:nvPr/>
        </p:nvSpPr>
        <p:spPr>
          <a:xfrm>
            <a:off x="4347633" y="1271178"/>
            <a:ext cx="54587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rgbClr val="C00000"/>
                </a:solidFill>
              </a:rPr>
              <a:t>第一段写研究目的，第一句话是针对背景提出的种种不足，本次毕设基于XX技术，拟实现一个XX系统，后续的内容是要按框架图的内容，以总分结构进行说明，就是先写本系统拟实现XX、XX、XX和XX功能，其中XX功能包括XX、XX等内容，XX内容可以向用户提供XX服务，大概这样的结构，这些内容用一段话说，不要换行。然后再另起一段，说一下这个系统实现有什么现实意义，有什么好处，这个简单点，3、4行就行</a:t>
            </a: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5E099A84-1259-D73D-A942-43E5B86415A6}"/>
              </a:ext>
            </a:extLst>
          </p:cNvPr>
          <p:cNvSpPr/>
          <p:nvPr/>
        </p:nvSpPr>
        <p:spPr>
          <a:xfrm rot="16200000">
            <a:off x="5144638" y="2594847"/>
            <a:ext cx="402167" cy="139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5EA9777-FB9F-6D16-B33B-43F6FDED59C3}"/>
              </a:ext>
            </a:extLst>
          </p:cNvPr>
          <p:cNvSpPr txBox="1"/>
          <p:nvPr/>
        </p:nvSpPr>
        <p:spPr>
          <a:xfrm>
            <a:off x="2256367" y="178416"/>
            <a:ext cx="8750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研究目的是重点，要按框架图的结构来写，这也是为什么先要设计框架图的原因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9F1836B-58FB-4E42-C50E-89A6E38DE57F}"/>
              </a:ext>
            </a:extLst>
          </p:cNvPr>
          <p:cNvSpPr txBox="1"/>
          <p:nvPr/>
        </p:nvSpPr>
        <p:spPr>
          <a:xfrm>
            <a:off x="5347996" y="2476858"/>
            <a:ext cx="5545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rgbClr val="0070C0"/>
                </a:solidFill>
              </a:rPr>
              <a:t>具体写法</a:t>
            </a:r>
          </a:p>
        </p:txBody>
      </p:sp>
    </p:spTree>
    <p:extLst>
      <p:ext uri="{BB962C8B-B14F-4D97-AF65-F5344CB8AC3E}">
        <p14:creationId xmlns:p14="http://schemas.microsoft.com/office/powerpoint/2010/main" val="2235404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B28F7-DD64-440C-5C7B-E03D4A46E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B4AF7E-DBFB-BA15-4AAD-C56ADCAB2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三、研究内容和预期目标的撰写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311AE5-5060-53E5-45AB-0AB65BB89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867" y="1359959"/>
            <a:ext cx="5554133" cy="1007099"/>
          </a:xfrm>
        </p:spPr>
        <p:txBody>
          <a:bodyPr/>
          <a:lstStyle/>
          <a:p>
            <a:pPr marL="0" indent="0" algn="ctr">
              <a:buNone/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研究内容：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511E7A9-50A5-BEDB-5A0C-2A6B98CC7D56}"/>
              </a:ext>
            </a:extLst>
          </p:cNvPr>
          <p:cNvSpPr txBox="1">
            <a:spLocks/>
          </p:cNvSpPr>
          <p:nvPr/>
        </p:nvSpPr>
        <p:spPr>
          <a:xfrm>
            <a:off x="6095999" y="1359959"/>
            <a:ext cx="564303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预期目标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CE9E8BB2-0628-E566-6D3D-5D9B144EA556}"/>
              </a:ext>
            </a:extLst>
          </p:cNvPr>
          <p:cNvSpPr/>
          <p:nvPr/>
        </p:nvSpPr>
        <p:spPr>
          <a:xfrm rot="16200000">
            <a:off x="3296174" y="4714338"/>
            <a:ext cx="223062" cy="1018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FCC5003-BB27-CCFE-3083-98A6965A59B2}"/>
              </a:ext>
            </a:extLst>
          </p:cNvPr>
          <p:cNvSpPr txBox="1"/>
          <p:nvPr/>
        </p:nvSpPr>
        <p:spPr>
          <a:xfrm>
            <a:off x="617547" y="4993009"/>
            <a:ext cx="54784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</a:rPr>
              <a:t>首先说明课题研究什么（第一行）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r>
              <a:rPr lang="zh-CN" altLang="en-US" sz="1600" b="1" dirty="0">
                <a:solidFill>
                  <a:srgbClr val="FF0000"/>
                </a:solidFill>
              </a:rPr>
              <a:t>然后按准备阶段（了解理论技术和开发技术）、设计阶段（完成设计）、开发实现阶段（实现核心算法或关键模块以及实现完整系统）、测试阶段等安排研究内容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316ACE1C-7758-27AD-8D61-41D28957F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47" y="2258723"/>
            <a:ext cx="5246876" cy="2354264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93AF269B-E6AA-331D-5F45-03ED9AD31E86}"/>
              </a:ext>
            </a:extLst>
          </p:cNvPr>
          <p:cNvSpPr txBox="1"/>
          <p:nvPr/>
        </p:nvSpPr>
        <p:spPr>
          <a:xfrm>
            <a:off x="6548447" y="5111542"/>
            <a:ext cx="5478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</a:rPr>
              <a:t>对照研究内容，一对一的说明每一阶段的工作要达到什么样的程度，一般来说有能够量化的实际成果描述</a:t>
            </a: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0C19A4B2-3D46-7E6C-AEAA-E7B20963F570}"/>
              </a:ext>
            </a:extLst>
          </p:cNvPr>
          <p:cNvSpPr/>
          <p:nvPr/>
        </p:nvSpPr>
        <p:spPr>
          <a:xfrm rot="16200000">
            <a:off x="8926508" y="4830547"/>
            <a:ext cx="223062" cy="1018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55F420C3-F77E-EA82-4F0D-84FDB436C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290" y="2416336"/>
            <a:ext cx="5363633" cy="183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06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7ECC9-FFC3-11C5-E0AB-E2AC4200B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859738-0B0B-565D-DA28-BA924C1BE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四、拟采用的研究方法、步骤的撰写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0F7CB6-D9D6-6BB8-4131-FB685A1A4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867" y="1173692"/>
            <a:ext cx="5554133" cy="1007099"/>
          </a:xfrm>
        </p:spPr>
        <p:txBody>
          <a:bodyPr/>
          <a:lstStyle/>
          <a:p>
            <a:pPr marL="0" indent="0" algn="ctr">
              <a:buNone/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研究方法：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C2DC848-6300-C4FF-5AAB-00B87F5E4D05}"/>
              </a:ext>
            </a:extLst>
          </p:cNvPr>
          <p:cNvSpPr txBox="1">
            <a:spLocks/>
          </p:cNvSpPr>
          <p:nvPr/>
        </p:nvSpPr>
        <p:spPr>
          <a:xfrm>
            <a:off x="6095999" y="1173692"/>
            <a:ext cx="564303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研究步骤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A2CCF529-CD82-6A06-BC02-A2CA3F54C9B0}"/>
              </a:ext>
            </a:extLst>
          </p:cNvPr>
          <p:cNvSpPr/>
          <p:nvPr/>
        </p:nvSpPr>
        <p:spPr>
          <a:xfrm rot="16200000">
            <a:off x="3296174" y="4528071"/>
            <a:ext cx="223062" cy="1018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C73F423-6566-DA52-810D-000FFD2252FA}"/>
              </a:ext>
            </a:extLst>
          </p:cNvPr>
          <p:cNvSpPr txBox="1"/>
          <p:nvPr/>
        </p:nvSpPr>
        <p:spPr>
          <a:xfrm>
            <a:off x="617547" y="4806742"/>
            <a:ext cx="54784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</a:rPr>
              <a:t>根据研究内容中描述的各个阶段工作，分别说明每个阶段采取什么样的方法来完成，可以写的相对具体一点，尽量和研究内容的部分有区分</a:t>
            </a:r>
            <a:endParaRPr lang="en-US" altLang="zh-CN" sz="1600" b="1" dirty="0">
              <a:solidFill>
                <a:srgbClr val="FF000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13B0DC2-4A33-C8B2-6FC9-CE37302A30AB}"/>
              </a:ext>
            </a:extLst>
          </p:cNvPr>
          <p:cNvSpPr txBox="1"/>
          <p:nvPr/>
        </p:nvSpPr>
        <p:spPr>
          <a:xfrm>
            <a:off x="6548447" y="4925275"/>
            <a:ext cx="54784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</a:rPr>
              <a:t>对照研究方法，进一步开展每个阶段工作的要点，一般来说，比较重要的工作内容，可以分开来具体说明步骤，因此这里的步骤会比研究方法中写的条目要多一些。注意本案例漏了调研部分的步骤说明。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r>
              <a:rPr lang="zh-CN" altLang="en-US" sz="1600" b="1" dirty="0">
                <a:solidFill>
                  <a:srgbClr val="FF0000"/>
                </a:solidFill>
              </a:rPr>
              <a:t>另外论文撰写在这里也可以写成具体步骤内容</a:t>
            </a: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F0D0370C-788A-1E9C-6858-B0B55580A666}"/>
              </a:ext>
            </a:extLst>
          </p:cNvPr>
          <p:cNvSpPr/>
          <p:nvPr/>
        </p:nvSpPr>
        <p:spPr>
          <a:xfrm rot="16200000">
            <a:off x="8926508" y="4644280"/>
            <a:ext cx="223062" cy="1018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2E8F553-8318-9168-A18C-47AE7718A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2296999"/>
            <a:ext cx="4334933" cy="156259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3DB6AD8-A804-DACF-A25B-A3213EEA9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2190141"/>
            <a:ext cx="4203702" cy="187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134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241EB-D732-C86D-B5D6-E7CECC0FC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A82B22-5C7D-737D-4131-2CE9E3088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五、参考文献的撰写</a:t>
            </a:r>
            <a:r>
              <a:rPr lang="zh-CN" altLang="en-US" sz="3200" b="1" dirty="0">
                <a:solidFill>
                  <a:srgbClr val="FF0000"/>
                </a:solidFill>
              </a:rPr>
              <a:t>（要比任务书多</a:t>
            </a:r>
            <a:r>
              <a:rPr lang="en-US" altLang="zh-CN" sz="3200" b="1" dirty="0">
                <a:solidFill>
                  <a:srgbClr val="FF0000"/>
                </a:solidFill>
              </a:rPr>
              <a:t>2</a:t>
            </a:r>
            <a:r>
              <a:rPr lang="zh-CN" altLang="en-US" sz="3200" b="1" dirty="0">
                <a:solidFill>
                  <a:srgbClr val="FF0000"/>
                </a:solidFill>
              </a:rPr>
              <a:t>篇！！）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A5080C-EE16-8454-3C83-B01756DC7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972801" cy="4587876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、百度学术和谷歌学术搜索引擎查找关键字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、一般关键技术或核心内容查找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篇左右，完整的系统参考文献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篇左右，技术指南类文章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篇左右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、关键技术的参考文献需要引用最近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年的较为权威的文献，建议引用综述类文献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、知网等站点下载文献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、使用标准引用格式（搜索引擎自带的格式即可）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、所有文献尽量都选用近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年内的文献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不准使用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AI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生成技术生成的参考文献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（可能是假的，这就变成学术造假行为，一票否决了）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>
              <a:lnSpc>
                <a:spcPct val="130000"/>
              </a:lnSpc>
              <a:buNone/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任务书已提供了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篇参考文献，开题时可以沿用，也可以重新挑选，符合上述要求即可，最终开题报告中的参考文献数量需要比任务书提供的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篇为宜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不得减少</a:t>
            </a:r>
          </a:p>
        </p:txBody>
      </p:sp>
    </p:spTree>
    <p:extLst>
      <p:ext uri="{BB962C8B-B14F-4D97-AF65-F5344CB8AC3E}">
        <p14:creationId xmlns:p14="http://schemas.microsoft.com/office/powerpoint/2010/main" val="425821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CF9EB-3D02-7F70-5724-A0A24A880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A5679F-59EF-C183-D7B1-FA29229F2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六、进度安排的撰写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381C62-557C-6F04-2D2F-2E24F0414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29391"/>
            <a:ext cx="9766300" cy="458787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与任务书一致即可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8108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3A444-3AD7-1915-6AAA-C4F9E3723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4C9C48-0163-3982-9396-2BECE6F02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七、英文翻译的选定与翻译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DDA584-00DC-DC2A-BA1C-32C706129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5125"/>
            <a:ext cx="9766300" cy="458787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、使用谷歌学术、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SCI-hub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arxiv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等英文论文搜索引擎中搜索可下载的论文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、主题或关键字需要和论文的关键字一致（建议与关键技术或核心平台一致）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、全文英文单词数大于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5000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（注意：不含标题和参考文献的单词数，另外文章中的图里面的单词不翻译，也不计入总数），如果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pdf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版无法统计字数，可以复制到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word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中核查，注意剔除标题、参考文献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、大于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5000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单词的论文只要翻译超过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5000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单词的章节即可，但不能找两篇文章凑在一起计算总单词数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、英文翻译文章需指导老师认可后方可进行翻译</a:t>
            </a:r>
          </a:p>
        </p:txBody>
      </p:sp>
    </p:spTree>
    <p:extLst>
      <p:ext uri="{BB962C8B-B14F-4D97-AF65-F5344CB8AC3E}">
        <p14:creationId xmlns:p14="http://schemas.microsoft.com/office/powerpoint/2010/main" val="2125720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1161</Words>
  <Application>Microsoft Office PowerPoint</Application>
  <PresentationFormat>宽屏</PresentationFormat>
  <Paragraphs>72</Paragraphs>
  <Slides>10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等线 Light</vt:lpstr>
      <vt:lpstr>宋体</vt:lpstr>
      <vt:lpstr>Arial</vt:lpstr>
      <vt:lpstr>Office 主题​​</vt:lpstr>
      <vt:lpstr>如何完成一份合格的开题报告 以及英文翻译</vt:lpstr>
      <vt:lpstr>一、开题报告的主要内容</vt:lpstr>
      <vt:lpstr>二、撰写开题报告之前的准备工作</vt:lpstr>
      <vt:lpstr>三、课题研究背景、目的及意义的撰写</vt:lpstr>
      <vt:lpstr>三、课题研究背景、目的及意义的撰写</vt:lpstr>
      <vt:lpstr>三、研究内容和预期目标的撰写</vt:lpstr>
      <vt:lpstr>四、拟采用的研究方法、步骤的撰写</vt:lpstr>
      <vt:lpstr>五、参考文献的撰写（要比任务书多2篇！！）</vt:lpstr>
      <vt:lpstr>六、进度安排的撰写</vt:lpstr>
      <vt:lpstr>七、英文翻译的选定与翻译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nuc</dc:creator>
  <cp:lastModifiedBy>nuc</cp:lastModifiedBy>
  <cp:revision>30</cp:revision>
  <dcterms:created xsi:type="dcterms:W3CDTF">2024-12-04T12:39:21Z</dcterms:created>
  <dcterms:modified xsi:type="dcterms:W3CDTF">2024-12-29T09:27:55Z</dcterms:modified>
</cp:coreProperties>
</file>